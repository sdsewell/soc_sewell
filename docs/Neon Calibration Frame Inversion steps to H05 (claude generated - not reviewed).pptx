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300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649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WindCube FPI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16642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EC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Pipeline — Steps 1 through 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binary image → dark subtraction → centre finding → annular reduction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peak fitting → Tolansky two-line WLS → seeds passed to H05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526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run_windcube_calibration.py  +  fpi_cal_lib.py  ·  CAL01  ·  2026-05-27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steps from raw binary to calibrated instrument parameters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20240" cy="566928"/>
          </a:xfrm>
          <a:prstGeom prst="rect">
            <a:avLst/>
          </a:prstGeom>
          <a:solidFill>
            <a:srgbClr val="112240"/>
          </a:solidFill>
          <a:ln w="19050">
            <a:solidFill>
              <a:srgbClr val="2E7DC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47472" cy="566928"/>
          </a:xfrm>
          <a:prstGeom prst="rect">
            <a:avLst/>
          </a:prstGeom>
          <a:solidFill>
            <a:srgbClr val="2E7DC4"/>
          </a:solidFill>
          <a:ln w="12700">
            <a:solidFill>
              <a:srgbClr val="2E7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0058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select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1271016"/>
            <a:ext cx="64008" cy="36576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5400000">
            <a:off x="2331720" y="1179576"/>
            <a:ext cx="182880" cy="219456"/>
          </a:xfrm>
          <a:prstGeom prst="rtTriangle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14600" y="1005840"/>
            <a:ext cx="1920240" cy="566928"/>
          </a:xfrm>
          <a:prstGeom prst="rect">
            <a:avLst/>
          </a:prstGeom>
          <a:solidFill>
            <a:srgbClr val="112240"/>
          </a:solidFill>
          <a:ln w="19050">
            <a:solidFill>
              <a:srgbClr val="2E7DC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14600" y="1005840"/>
            <a:ext cx="347472" cy="566928"/>
          </a:xfrm>
          <a:prstGeom prst="rect">
            <a:avLst/>
          </a:prstGeom>
          <a:solidFill>
            <a:srgbClr val="2E7DC4"/>
          </a:solidFill>
          <a:ln w="12700">
            <a:solidFill>
              <a:srgbClr val="2E7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14600" y="100584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98648" y="10058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dark sub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1271016"/>
            <a:ext cx="64008" cy="36576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rot="5400000">
            <a:off x="4480560" y="1179576"/>
            <a:ext cx="182880" cy="219456"/>
          </a:xfrm>
          <a:prstGeom prst="rtTriangle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1920240" cy="566928"/>
          </a:xfrm>
          <a:prstGeom prst="rect">
            <a:avLst/>
          </a:prstGeom>
          <a:solidFill>
            <a:srgbClr val="112240"/>
          </a:solidFill>
          <a:ln w="19050">
            <a:solidFill>
              <a:srgbClr val="0D9E8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347472" cy="566928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100584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47488" y="10058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find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1271016"/>
            <a:ext cx="64008" cy="36576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rot="5400000">
            <a:off x="6629400" y="1179576"/>
            <a:ext cx="182880" cy="219456"/>
          </a:xfrm>
          <a:prstGeom prst="rtTriangle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12280" y="1005840"/>
            <a:ext cx="1920240" cy="566928"/>
          </a:xfrm>
          <a:prstGeom prst="rect">
            <a:avLst/>
          </a:prstGeom>
          <a:solidFill>
            <a:srgbClr val="112240"/>
          </a:solidFill>
          <a:ln w="19050">
            <a:solidFill>
              <a:srgbClr val="0D9E8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12280" y="1005840"/>
            <a:ext cx="347472" cy="566928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12280" y="100584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96328" y="10058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Annular reduce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85632" y="1289304"/>
            <a:ext cx="36576" cy="1170432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rot="10800000">
            <a:off x="8375904" y="2386584"/>
            <a:ext cx="256032" cy="182880"/>
          </a:xfrm>
          <a:prstGeom prst="rtTriangle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2606040"/>
            <a:ext cx="1920240" cy="566928"/>
          </a:xfrm>
          <a:prstGeom prst="rect">
            <a:avLst/>
          </a:prstGeom>
          <a:solidFill>
            <a:srgbClr val="112240"/>
          </a:solidFill>
          <a:ln w="19050">
            <a:solidFill>
              <a:srgbClr val="3AAA6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2606040"/>
            <a:ext cx="347472" cy="566928"/>
          </a:xfrm>
          <a:prstGeom prst="rect">
            <a:avLst/>
          </a:prstGeom>
          <a:solidFill>
            <a:srgbClr val="3AAA6A"/>
          </a:solidFill>
          <a:ln w="12700">
            <a:solidFill>
              <a:srgbClr val="3AA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63440" y="260604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47488" y="2606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ID &amp; fit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34840" y="2871216"/>
            <a:ext cx="201168" cy="36576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 rot="16200000">
            <a:off x="4270248" y="2761488"/>
            <a:ext cx="182880" cy="219456"/>
          </a:xfrm>
          <a:prstGeom prst="rtTriangle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14600" y="2606040"/>
            <a:ext cx="1920240" cy="566928"/>
          </a:xfrm>
          <a:prstGeom prst="rect">
            <a:avLst/>
          </a:prstGeom>
          <a:solidFill>
            <a:srgbClr val="112240"/>
          </a:solidFill>
          <a:ln w="19050">
            <a:solidFill>
              <a:srgbClr val="E8A02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514600" y="2606040"/>
            <a:ext cx="347472" cy="5669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514600" y="260604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898648" y="2606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Tolansky WLS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286000" y="2871216"/>
            <a:ext cx="201168" cy="36576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 rot="16200000">
            <a:off x="2121408" y="2761488"/>
            <a:ext cx="182880" cy="219456"/>
          </a:xfrm>
          <a:prstGeom prst="rtTriangle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65760" y="2606040"/>
            <a:ext cx="1920240" cy="566928"/>
          </a:xfrm>
          <a:prstGeom prst="rect">
            <a:avLst/>
          </a:prstGeom>
          <a:solidFill>
            <a:srgbClr val="112240"/>
          </a:solidFill>
          <a:ln w="19050">
            <a:solidFill>
              <a:srgbClr val="D85A3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65760" y="2606040"/>
            <a:ext cx="347472" cy="56692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260604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49808" y="2606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H05 inversion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3401568"/>
            <a:ext cx="8412480" cy="438912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34015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covers steps 1–7.  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(H05 inversion) is covered in the separate H05→H06 handoff deck.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65760" y="40050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produced:  Fig 0  ·  Fig 1  ·  Fig 2  ·  Fig 3a/3b  ·  Fig 4  ·  Fig 5  ·  Fig 5b  →  _cal_result.npy  (Step 8)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&amp; 2 — File selection, loading, dark subtraction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dark-subtracted ROI that all subsequent steps operate 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77640" cy="1920240"/>
          </a:xfrm>
          <a:prstGeom prst="rect">
            <a:avLst/>
          </a:prstGeom>
          <a:solidFill>
            <a:srgbClr val="112240"/>
          </a:solidFill>
          <a:ln w="15240">
            <a:solidFill>
              <a:srgbClr val="2E7DC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977640" cy="329184"/>
          </a:xfrm>
          <a:prstGeom prst="rect">
            <a:avLst/>
          </a:prstGeom>
          <a:solidFill>
            <a:srgbClr val="2E7DC4"/>
          </a:solidFill>
          <a:ln w="12700">
            <a:solidFill>
              <a:srgbClr val="2E7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—  File selection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344168"/>
            <a:ext cx="37947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USE_DIALOG flag selects between: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Windows tkinter dialog (_pick_file)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Hardcoded paths for production runs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one CAL .bin and one DARK .bin.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directory = one level above cal file.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4206240" cy="1920240"/>
          </a:xfrm>
          <a:prstGeom prst="rect">
            <a:avLst/>
          </a:prstGeom>
          <a:solidFill>
            <a:srgbClr val="112240"/>
          </a:solidFill>
          <a:ln w="15240">
            <a:solidFill>
              <a:srgbClr val="2E7DC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4206240" cy="329184"/>
          </a:xfrm>
          <a:prstGeom prst="rect">
            <a:avLst/>
          </a:prstGeom>
          <a:solidFill>
            <a:srgbClr val="2E7DC4"/>
          </a:solidFill>
          <a:ln w="12700">
            <a:solidFill>
              <a:srgbClr val="2E7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9601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—  Load &amp; dark subtract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3440" y="1344168"/>
            <a:ext cx="40233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_load_raw() decodes big-endian uint16 binary: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header row → exp time, image type, lamps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pixel array → float64 image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subtracted full frame; floor at 0.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extracted: 220×220 px centred on seed.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901952"/>
            <a:ext cx="64008" cy="36576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rot="5400000">
            <a:off x="4389120" y="1810512"/>
            <a:ext cx="182880" cy="219456"/>
          </a:xfrm>
          <a:prstGeom prst="rtTriangle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999232"/>
            <a:ext cx="8412480" cy="1444752"/>
          </a:xfrm>
          <a:prstGeom prst="rect">
            <a:avLst/>
          </a:prstGeom>
          <a:solidFill>
            <a:srgbClr val="112240"/>
          </a:solidFill>
          <a:ln w="10160">
            <a:solidFill>
              <a:srgbClr val="5BA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8412480" cy="292608"/>
          </a:xfrm>
          <a:prstGeom prst="rect">
            <a:avLst/>
          </a:prstGeom>
          <a:solidFill>
            <a:srgbClr val="5BA8E8"/>
          </a:solidFill>
          <a:ln w="12700">
            <a:solidFill>
              <a:srgbClr val="5B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999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0  —  0_cal_raw_images_metadata.png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310128"/>
            <a:ext cx="8229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[0,0] Raw cal image (full frame, ROI box overlay)     [0,1] Raw dark image (full frame)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:] Metadata table — exp time, CCD temp, timestamp, lamp/shutter status, etalon temps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[2,0] Dark-subtracted ROI (220×220 px, seed crosshair)     [2,1] ROI pixel histogram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0" y="4498848"/>
            <a:ext cx="2743200" cy="274320"/>
          </a:xfrm>
          <a:prstGeom prst="roundRect">
            <a:avLst>
              <a:gd name="adj" fmla="val 13333"/>
            </a:avLst>
          </a:prstGeom>
          <a:solidFill>
            <a:srgbClr val="0D2040"/>
          </a:solidFill>
          <a:ln w="1016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4498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fpi_cal_lib: (none — local helpers only)</a:t>
            </a:r>
            <a:endParaRPr lang="en-US" sz="950" dirty="0"/>
          </a:p>
        </p:txBody>
      </p:sp>
      <p:pic>
        <p:nvPicPr>
          <p:cNvPr id="21" name="raw_cal_v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617" y="1349304"/>
            <a:ext cx="1506298" cy="1471056"/>
          </a:xfrm>
          <a:prstGeom prst="rect">
            <a:avLst/>
          </a:prstGeom>
        </p:spPr>
      </p:pic>
      <p:pic>
        <p:nvPicPr>
          <p:cNvPr id="22" name="raw_dark_v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593" y="1349304"/>
            <a:ext cx="1506298" cy="14710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Two-pass azimuthal variance centre finding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the optical axis of the fringe pattern to sub-pixel accuracy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77640" cy="1874520"/>
          </a:xfrm>
          <a:prstGeom prst="rect">
            <a:avLst/>
          </a:prstGeom>
          <a:solidFill>
            <a:srgbClr val="112240"/>
          </a:solidFill>
          <a:ln w="15240">
            <a:solidFill>
              <a:srgbClr val="0D9E8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977640" cy="329184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  —  Coarse grid search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344168"/>
            <a:ext cx="379476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20×20 grid over ±VAR_SEARCH_PX (15 px)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ROI geometric centre.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_variance_cost() at each point.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(grid_cx, grid_cy) at minimum.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4206240" cy="1874520"/>
          </a:xfrm>
          <a:prstGeom prst="rect">
            <a:avLst/>
          </a:prstGeom>
          <a:solidFill>
            <a:srgbClr val="112240"/>
          </a:solidFill>
          <a:ln w="15240">
            <a:solidFill>
              <a:srgbClr val="0D9E8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4206240" cy="329184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9601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  —  Nelder-Mead refinement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3440" y="1344168"/>
            <a:ext cx="402336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scipy.optimize.minimize(Nelder-Mead)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from Pass 1 best point.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(cx, cy) ± 1σ from cost-surface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curvature (finite-difference Hessian).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σ &lt; 0.1 px.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874520"/>
            <a:ext cx="64008" cy="36576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rot="5400000">
            <a:off x="4389120" y="1783080"/>
            <a:ext cx="182880" cy="219456"/>
          </a:xfrm>
          <a:prstGeom prst="rtTriangle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548640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9443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_variance_cost(cx, cy, image)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3218688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pixels into r² annuli. Returns Σ(per-bin variance).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when cx,cy coincide with the true optical axis.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hot pixels clipped at 99.5th percentile before cost eval.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2926080"/>
            <a:ext cx="2788920" cy="1097280"/>
          </a:xfrm>
          <a:prstGeom prst="rect">
            <a:avLst/>
          </a:prstGeom>
          <a:solidFill>
            <a:srgbClr val="112240"/>
          </a:solidFill>
          <a:ln w="10160">
            <a:solidFill>
              <a:srgbClr val="0D9E8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0" y="29443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C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 —  Centre finding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3218688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2×3 grid: fringe image with crosshair,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vs cx (coarse + fine),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vs cy (coarse + fine).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133088"/>
            <a:ext cx="841248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1330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→ CentreResult:  cx, cy, σ_cx, σ_cy, 2σ_cx, 2σ_cy, cost_at_min, grid_cx, grid_cy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4562856"/>
            <a:ext cx="2743200" cy="274320"/>
          </a:xfrm>
          <a:prstGeom prst="roundRect">
            <a:avLst>
              <a:gd name="adj" fmla="val 13333"/>
            </a:avLst>
          </a:prstGeom>
          <a:solidFill>
            <a:srgbClr val="0D2040"/>
          </a:solidFill>
          <a:ln w="1016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0" y="4562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fpi_cal_lib: find_centre(), _variance_cost(), CentreResult</a:t>
            </a:r>
            <a:endParaRPr lang="en-US" sz="950" dirty="0"/>
          </a:p>
        </p:txBody>
      </p:sp>
      <p:pic>
        <p:nvPicPr>
          <p:cNvPr id="25" name="s4_nm_cent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00" y="1395868"/>
            <a:ext cx="4046240" cy="13322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Annular reduction (Mulligan r² binning)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the 2-D fringe image to a 1-D radial intensity profile I(r²)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06040" cy="2377440"/>
          </a:xfrm>
          <a:prstGeom prst="rect">
            <a:avLst/>
          </a:prstGeom>
          <a:solidFill>
            <a:srgbClr val="112240"/>
          </a:solidFill>
          <a:ln w="15240">
            <a:solidFill>
              <a:srgbClr val="0D9E8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606040" cy="329184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344168"/>
            <a:ext cx="242316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bins: n_bins=1500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r=0 → R_MAX_PX=150 px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(~43 bins/FWHM)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votes into its r² bin.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 per (pixel,bin)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before accumulation.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960120"/>
            <a:ext cx="2606040" cy="2377440"/>
          </a:xfrm>
          <a:prstGeom prst="rect">
            <a:avLst/>
          </a:prstGeom>
          <a:solidFill>
            <a:srgbClr val="112240"/>
          </a:solidFill>
          <a:ln w="15240">
            <a:solidFill>
              <a:srgbClr val="0D9E8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08960" y="960120"/>
            <a:ext cx="2606040" cy="329184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08960" y="96012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per bin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0" y="1344168"/>
            <a:ext cx="242316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ADU → profile[b]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/ √N_pix → sigma_profile[b]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 — standard error of mean)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3σ outlier clip per bin.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&lt; 3 pixels → masked.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flag if &gt;10% masked.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960120"/>
            <a:ext cx="2926080" cy="2377440"/>
          </a:xfrm>
          <a:prstGeom prst="rect">
            <a:avLst/>
          </a:prstGeom>
          <a:solidFill>
            <a:srgbClr val="112240"/>
          </a:solidFill>
          <a:ln w="15240">
            <a:solidFill>
              <a:srgbClr val="0D9E8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52160" y="960120"/>
            <a:ext cx="2926080" cy="329184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0" y="9601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finding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0" y="1344168"/>
            <a:ext cx="27432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passes: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_find_and_fit_peaks()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Gaussian fits in r domain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_find_and_fit_peaks_r2()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Parabolic primary + Gaussian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fallback in r² domain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Uses _R2_WINDOWS lookup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(user-defined per peak)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456432"/>
            <a:ext cx="8412480" cy="457200"/>
          </a:xfrm>
          <a:prstGeom prst="rect">
            <a:avLst/>
          </a:prstGeom>
          <a:solidFill>
            <a:srgbClr val="0D2040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456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→ FringeProfile:  profile, sigma_profile, r_grid, r2_grid, n_pixels, masked, cx, cy, peak_fits, peak_fits_r2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98678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tunable params:  R_MAX_PX=150  ·  N_BINS=1500  ·  PEAK_PROMINENCE=20 ADU  ·  _R2_WINDOWS (34 entries, P0–P31)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4370832"/>
            <a:ext cx="2743200" cy="274320"/>
          </a:xfrm>
          <a:prstGeom prst="roundRect">
            <a:avLst>
              <a:gd name="adj" fmla="val 13333"/>
            </a:avLst>
          </a:prstGeom>
          <a:solidFill>
            <a:srgbClr val="0D2040"/>
          </a:solidFill>
          <a:ln w="1016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0" y="4370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fpi_cal_lib: annular_reduce(), FringeProfile, PeakFitR2</a:t>
            </a:r>
            <a:endParaRPr lang="en-US" sz="950" dirty="0"/>
          </a:p>
        </p:txBody>
      </p:sp>
      <p:pic>
        <p:nvPicPr>
          <p:cNvPr id="22" name="dark_sub_v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274" y="2377440"/>
            <a:ext cx="1011852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 &amp; 6 — Peak identification and fit diagnostics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and fits all 32 fringe peaks; produces the r²_fit centroids used by Tolansky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206240" cy="2148840"/>
          </a:xfrm>
          <a:prstGeom prst="rect">
            <a:avLst/>
          </a:prstGeom>
          <a:solidFill>
            <a:srgbClr val="112240"/>
          </a:solidFill>
          <a:ln w="15240">
            <a:solidFill>
              <a:srgbClr val="3AAA6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206240" cy="310896"/>
          </a:xfrm>
          <a:prstGeom prst="rect">
            <a:avLst/>
          </a:prstGeom>
          <a:solidFill>
            <a:srgbClr val="3AAA6A"/>
          </a:solidFill>
          <a:ln w="12700">
            <a:solidFill>
              <a:srgbClr val="3AA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 —  Peak identification table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40233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panel: full radial profile I(r²) with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shaded _R2_WINDOWS fitting bands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green dashed centre-guess lines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red centroid lines (r²_fit)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panel: peak table — λ, win lo/hi,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r²_raw, r²_fit, ±σ, amplitude, width, χ²_red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size 12.5 pt for readability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2148840"/>
          </a:xfrm>
          <a:prstGeom prst="rect">
            <a:avLst/>
          </a:prstGeom>
          <a:solidFill>
            <a:srgbClr val="112240"/>
          </a:solidFill>
          <a:ln w="15240">
            <a:solidFill>
              <a:srgbClr val="3AAA6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069080" cy="310896"/>
          </a:xfrm>
          <a:prstGeom prst="rect">
            <a:avLst/>
          </a:prstGeom>
          <a:solidFill>
            <a:srgbClr val="3AAA6A"/>
          </a:solidFill>
          <a:ln w="12700">
            <a:solidFill>
              <a:srgbClr val="3AA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96012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3a/3b  —  Per-peak fit diagnostics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0600" y="1298448"/>
            <a:ext cx="38862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3a: P0–P19 (inner peaks, well-resolved)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3b: P20–P31 (outer peaks, lower SNR)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4-column grid of panels, one per peak.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panel: data ± SEM,  parabola fit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(orange solid), detected centroid (gray dash),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centroid (red) ± 1σ band.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Subtitle: f(r²)=A·r⁴+B·r²+C  centroid=−B/(2A)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457200"/>
          </a:xfrm>
          <a:prstGeom prst="rect">
            <a:avLst/>
          </a:prstGeom>
          <a:solidFill>
            <a:srgbClr val="0D2040"/>
          </a:solidFill>
          <a:ln w="12700">
            <a:solidFill>
              <a:srgbClr val="3AA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2186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 model: parabola f(r²) = A(r²)² + B(r²) + C  ·  A &lt; 0 (opens downward)  ·  centroid r²_fit = −B / (2A)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7490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alternate 640.2 nm (even index) / 638.3 nm (odd index)  ·  _R2_WINDOWS defines fitting bounds for each of the 34 expected peaks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4133088"/>
            <a:ext cx="2743200" cy="274320"/>
          </a:xfrm>
          <a:prstGeom prst="roundRect">
            <a:avLst>
              <a:gd name="adj" fmla="val 13333"/>
            </a:avLst>
          </a:prstGeom>
          <a:solidFill>
            <a:srgbClr val="0D2040"/>
          </a:solidFill>
          <a:ln w="1016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0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fpi_cal_lib: _plot_all_fringe_diagnostics_r2(), PeakFitR2</a:t>
            </a:r>
            <a:endParaRPr lang="en-US" sz="950" dirty="0"/>
          </a:p>
        </p:txBody>
      </p:sp>
      <p:pic>
        <p:nvPicPr>
          <p:cNvPr id="18" name="s6_radial_profi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0" y="1701988"/>
            <a:ext cx="4066239" cy="975999"/>
          </a:xfrm>
          <a:prstGeom prst="rect">
            <a:avLst/>
          </a:prstGeom>
        </p:spPr>
      </p:pic>
      <p:pic>
        <p:nvPicPr>
          <p:cNvPr id="19" name="s6_inner_fi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5507" y="1341016"/>
            <a:ext cx="3156385" cy="16979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— peaks_to_array()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list of PeakFitR2 objects into the float64 array consumed by run_tolansky_2line()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10896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shape:  (N_peaks, 10)  float64  — one row per detected peak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35024"/>
            <a:ext cx="8412480" cy="265176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749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33502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peak_idx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54680" y="1335024"/>
            <a:ext cx="5577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index of centroid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618488"/>
            <a:ext cx="8412480" cy="265176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618488"/>
            <a:ext cx="749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720" y="161848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r2_raw_px2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54680" y="1618488"/>
            <a:ext cx="5577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at detected bin (px²)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8412480" cy="265176"/>
          </a:xfrm>
          <a:prstGeom prst="rect">
            <a:avLst/>
          </a:prstGeom>
          <a:solidFill>
            <a:srgbClr val="1A3A2A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1901952"/>
            <a:ext cx="749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190195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r2_fit_px2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54680" y="1901952"/>
            <a:ext cx="5577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C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parabolic centroid  ← Tolansky uses this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185416"/>
            <a:ext cx="8412480" cy="265176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2185416"/>
            <a:ext cx="749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218541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sigma_r2_fit_px2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54680" y="2185416"/>
            <a:ext cx="5577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1σ uncertainty on col 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468880"/>
            <a:ext cx="8412480" cy="265176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2468880"/>
            <a:ext cx="749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8720" y="246888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r_raw_px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54680" y="2468880"/>
            <a:ext cx="5577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√(r2_raw) for reference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752344"/>
            <a:ext cx="8412480" cy="265176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2752344"/>
            <a:ext cx="749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88720" y="275234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54680" y="2752344"/>
            <a:ext cx="5577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035808"/>
            <a:ext cx="8412480" cy="265176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3035808"/>
            <a:ext cx="749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88720" y="303580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amplitude_adu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154680" y="3035808"/>
            <a:ext cx="5577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amplitude (ADU)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319272"/>
            <a:ext cx="8412480" cy="265176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3319272"/>
            <a:ext cx="749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88720" y="331927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width_r2_px2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154680" y="3319272"/>
            <a:ext cx="5577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σ in r²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602736"/>
            <a:ext cx="8412480" cy="265176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1480" y="3602736"/>
            <a:ext cx="749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88720" y="360273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reduced_chi2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154680" y="3602736"/>
            <a:ext cx="5577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quality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3886200"/>
            <a:ext cx="8412480" cy="265176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11480" y="3886200"/>
            <a:ext cx="749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9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88720" y="388620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line_id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154680" y="3886200"/>
            <a:ext cx="5577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= 640.2 nm  /  1.0 = 638.3 nm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4206240"/>
            <a:ext cx="841248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assignment: even list index → line_id=0.0 (640.2 nm strong)  |  odd → line_id=1.0 (638.3 nm weak)  — strict alternating interleave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00400" y="4663440"/>
            <a:ext cx="2743200" cy="274320"/>
          </a:xfrm>
          <a:prstGeom prst="roundRect">
            <a:avLst>
              <a:gd name="adj" fmla="val 13333"/>
            </a:avLst>
          </a:prstGeom>
          <a:solidFill>
            <a:srgbClr val="0D2040"/>
          </a:solidFill>
          <a:ln w="1016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0040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fpi_cal_lib: peaks_to_array()</a:t>
            </a:r>
            <a:endParaRPr lang="en-US" sz="950" dirty="0"/>
          </a:p>
        </p:txBody>
      </p:sp>
      <p:pic>
        <p:nvPicPr>
          <p:cNvPr id="51" name="s7_radial_profi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240" y="2217478"/>
            <a:ext cx="4380560" cy="10514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Tolansky two-line WLS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etalon gap d, plate scale α, and fractional orders ε_a, ε_b from fringe peak positions alone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394960" cy="548640"/>
          </a:xfrm>
          <a:prstGeom prst="rect">
            <a:avLst/>
          </a:prstGeom>
          <a:solidFill>
            <a:srgbClr val="0D1E35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r²_p  =  Δ · p  +  b     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= FSR spacing (px²/fringe)  ·  ε = 1 + b/Δ  (fractional order)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2606040" cy="1645920"/>
          </a:xfrm>
          <a:prstGeom prst="rect">
            <a:avLst/>
          </a:prstGeom>
          <a:solidFill>
            <a:srgbClr val="112240"/>
          </a:solidFill>
          <a:ln w="15240">
            <a:solidFill>
              <a:srgbClr val="2E7DC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2606040" cy="329184"/>
          </a:xfrm>
          <a:prstGeom prst="rect">
            <a:avLst/>
          </a:prstGeom>
          <a:solidFill>
            <a:srgbClr val="2E7DC4"/>
          </a:solidFill>
          <a:ln w="12700">
            <a:solidFill>
              <a:srgbClr val="2E7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a  —  640.2248 nm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2423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WLS fit → Δ_a, σ_Δ_a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ε_a = 1 + b_a/Δ_a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chi2/nu_a  [PASS if &lt; 2]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N_rings_a = 16 pairs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1627632"/>
            <a:ext cx="2606040" cy="1645920"/>
          </a:xfrm>
          <a:prstGeom prst="rect">
            <a:avLst/>
          </a:prstGeom>
          <a:solidFill>
            <a:srgbClr val="112240"/>
          </a:solidFill>
          <a:ln w="15240">
            <a:solidFill>
              <a:srgbClr val="2E7DC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08960" y="1627632"/>
            <a:ext cx="2606040" cy="329184"/>
          </a:xfrm>
          <a:prstGeom prst="rect">
            <a:avLst/>
          </a:prstGeom>
          <a:solidFill>
            <a:srgbClr val="2E7DC4"/>
          </a:solidFill>
          <a:ln w="12700">
            <a:solidFill>
              <a:srgbClr val="2E7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08960" y="162763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  —  638.2991 nm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0" y="2011680"/>
            <a:ext cx="2423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WLS fit → Δ_b, σ_Δ_b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ε_b = 1 + b_b/Δ_b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chi2/nu_b  [PASS if &lt; 2]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N_rings_b = 16 pairs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97880" y="1627632"/>
            <a:ext cx="2880360" cy="1645920"/>
          </a:xfrm>
          <a:prstGeom prst="rect">
            <a:avLst/>
          </a:prstGeom>
          <a:solidFill>
            <a:srgbClr val="112240"/>
          </a:solidFill>
          <a:ln w="15240">
            <a:solidFill>
              <a:srgbClr val="E8A02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897880" y="1627632"/>
            <a:ext cx="2880360" cy="32918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97880" y="162763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Benoit recovery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89320" y="2011680"/>
            <a:ext cx="2697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N_Δ from d_prior=20.008 mm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(N_Δ+ε_a−ε_b)·λ_a·λ_b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/ [2n(λ_b−λ_a)]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√(λ_a·n / (d·Δ_a))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01568"/>
            <a:ext cx="5394960" cy="694944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41985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C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7588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Δ_a/Δ_b vs λ_a/λ_b  [PASS &lt; 200 ppm]     |     |α_a − α_b| / α_a  [PASS &lt; 1000 ppm]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Y_B_obs = median(amp_b)/median(amp_a)  [PASS if 0.15 – 0.60]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97880" y="3401568"/>
            <a:ext cx="2880360" cy="694944"/>
          </a:xfrm>
          <a:prstGeom prst="rect">
            <a:avLst/>
          </a:prstGeom>
          <a:solidFill>
            <a:srgbClr val="112240"/>
          </a:solidFill>
          <a:ln w="10160">
            <a:solidFill>
              <a:srgbClr val="E8A02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89320" y="3438144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4: Tolansky 4-panel diagnostic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5: n_pairs sensitivity sweep (6 panels)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5b: d and α table by n_pairs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0" y="4206240"/>
            <a:ext cx="2743200" cy="274320"/>
          </a:xfrm>
          <a:prstGeom prst="roundRect">
            <a:avLst>
              <a:gd name="adj" fmla="val 13333"/>
            </a:avLst>
          </a:prstGeom>
          <a:solidFill>
            <a:srgbClr val="0D2040"/>
          </a:solidFill>
          <a:ln w="1016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82880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fpi_cal_lib: run_tolansky_2line(), plot_tolansky_result(), print_rectangular_array()</a:t>
            </a:r>
            <a:endParaRPr lang="en-US" sz="950" dirty="0"/>
          </a:p>
        </p:txBody>
      </p:sp>
      <p:pic>
        <p:nvPicPr>
          <p:cNvPr id="26" name="s8_tolansky_pl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937" y="1996816"/>
            <a:ext cx="1581686" cy="1236736"/>
          </a:xfrm>
          <a:prstGeom prst="rect">
            <a:avLst/>
          </a:prstGeom>
        </p:spPr>
      </p:pic>
      <p:pic>
        <p:nvPicPr>
          <p:cNvPr id="27" name="s8_npairs_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1259" y="1996816"/>
            <a:ext cx="1901441" cy="1236736"/>
          </a:xfrm>
          <a:prstGeom prst="rect">
            <a:avLst/>
          </a:prstGeom>
        </p:spPr>
      </p:pic>
      <p:pic>
        <p:nvPicPr>
          <p:cNvPr id="28" name="s8_npairs_swee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182" y="1996816"/>
            <a:ext cx="2217755" cy="12367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Tolansky → H05 handoff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run_tolansky_2line() returns and how average_tolansky_seeds() wraps it for H05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59536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00" cy="2743200"/>
          </a:xfrm>
          <a:prstGeom prst="rect">
            <a:avLst/>
          </a:prstGeom>
          <a:solidFill>
            <a:srgbClr val="112240"/>
          </a:solidFill>
          <a:ln w="15240">
            <a:solidFill>
              <a:srgbClr val="E8A02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029200" cy="31089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TolanskyResult  (from run_tolansky_2line)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316736"/>
            <a:ext cx="4937760" cy="246888"/>
          </a:xfrm>
          <a:prstGeom prst="rect">
            <a:avLst/>
          </a:prstGeom>
          <a:solidFill>
            <a:srgbClr val="1A3A2A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31673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20240" y="131673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C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etalon gap, metres              ← seeds t_m in H05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577340"/>
            <a:ext cx="4937760" cy="24688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57734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sigma_d_m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20240" y="157734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1σ uncertainty on 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1837944"/>
            <a:ext cx="4937760" cy="246888"/>
          </a:xfrm>
          <a:prstGeom prst="rect">
            <a:avLst/>
          </a:prstGeom>
          <a:solidFill>
            <a:srgbClr val="1A3A2A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1837944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alpha_mean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20240" y="183794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C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scale, rad/px             ← seeds α in H05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098548"/>
            <a:ext cx="4937760" cy="24688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09854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sigma_alpha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20240" y="209854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1σ uncertainty on α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359152"/>
            <a:ext cx="4937760" cy="246888"/>
          </a:xfrm>
          <a:prstGeom prst="rect">
            <a:avLst/>
          </a:prstGeom>
          <a:solidFill>
            <a:srgbClr val="1A3A2A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35915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eps_a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20240" y="2359152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C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order, 640.2 nm     ← phase_correct_gap()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2619756"/>
            <a:ext cx="4937760" cy="24688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61975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sigma_eps_a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920240" y="261975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1σ uncertainty on ε_a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2880360"/>
            <a:ext cx="4937760" cy="246888"/>
          </a:xfrm>
          <a:prstGeom prst="rect">
            <a:avLst/>
          </a:prstGeom>
          <a:solidFill>
            <a:srgbClr val="1A3A2A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288036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Y_B_obs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20240" y="288036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C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ratio 638/640               ← seeds ne_ratio_init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140964"/>
            <a:ext cx="4937760" cy="24688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140964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Delta_a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920240" y="314096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r²-spacing px²/fringe           ← used to compute α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3401568"/>
            <a:ext cx="4937760" cy="246888"/>
          </a:xfrm>
          <a:prstGeom prst="rect">
            <a:avLst/>
          </a:prstGeom>
          <a:solidFill>
            <a:srgbClr val="0E1E3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40156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n_rings_a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920240" y="340156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pairs used = 16            ← figure annotation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77840" y="960120"/>
            <a:ext cx="3200400" cy="2743200"/>
          </a:xfrm>
          <a:prstGeom prst="rect">
            <a:avLst/>
          </a:prstGeom>
          <a:solidFill>
            <a:srgbClr val="112240"/>
          </a:solidFill>
          <a:ln w="15240">
            <a:solidFill>
              <a:srgbClr val="0D9E8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577840" y="960120"/>
            <a:ext cx="3200400" cy="310896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577840" y="9601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average_tolansky_seeds()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669280" y="1316736"/>
            <a:ext cx="301752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 list of TolanskyResult.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production: list of one (single frame).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frames with chi2/nu &gt; 15.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mean ± SEM for: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d_m_mean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alpha_mean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eps_a_mean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Delta_a_mean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Y_B_obs_mean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TolanskySeedMean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passed directly to run_h05()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13248" y="2322576"/>
            <a:ext cx="0" cy="36576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 rot="5400000">
            <a:off x="5394960" y="2231136"/>
            <a:ext cx="182880" cy="219456"/>
          </a:xfrm>
          <a:prstGeom prst="rtTriangle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65760" y="3822192"/>
            <a:ext cx="8412480" cy="457200"/>
          </a:xfrm>
          <a:prstGeom prst="rect">
            <a:avLst/>
          </a:prstGeom>
          <a:solidFill>
            <a:srgbClr val="1A2A10"/>
          </a:solidFill>
          <a:ln w="12700">
            <a:solidFill>
              <a:srgbClr val="3AA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38221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A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H05 receives: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TolanskySeedMean (d_m_mean, alpha_mean, eps_a_mean, Y_B_obs_mean)  +  FringeProfile  +  R1/R2/σ₀ init values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65760" y="43708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the H05 → H06 handoff deck  ↗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828800" y="4681728"/>
            <a:ext cx="2743200" cy="274320"/>
          </a:xfrm>
          <a:prstGeom prst="roundRect">
            <a:avLst>
              <a:gd name="adj" fmla="val 13333"/>
            </a:avLst>
          </a:prstGeom>
          <a:solidFill>
            <a:srgbClr val="0D2040"/>
          </a:solidFill>
          <a:ln w="10160">
            <a:solidFill>
              <a:srgbClr val="0D9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828800" y="4681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fpi_cal_lib: run_tolansky_2line(), average_tolansky_seeds(), TolanskySeedMean</a:t>
            </a:r>
            <a:endParaRPr lang="en-US" sz="950" dirty="0"/>
          </a:p>
        </p:txBody>
      </p:sp>
      <p:pic>
        <p:nvPicPr>
          <p:cNvPr id="46" name="s9_harding_f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840" y="1839095"/>
            <a:ext cx="3120400" cy="12961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1991</Words>
  <Application>Microsoft Office PowerPoint</Application>
  <PresentationFormat>On-screen Show (16:9)</PresentationFormat>
  <Paragraphs>235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WindCube FPI Calibration Pipeline — Steps 1–7</dc:title>
  <dc:subject>PptxGenJS Presentation</dc:subject>
  <dc:creator>PptxGenJS</dc:creator>
  <cp:lastModifiedBy>Scott Sewell</cp:lastModifiedBy>
  <cp:revision>1</cp:revision>
  <dcterms:created xsi:type="dcterms:W3CDTF">2026-05-27T16:51:07Z</dcterms:created>
  <dcterms:modified xsi:type="dcterms:W3CDTF">2026-05-27T17:52:16Z</dcterms:modified>
</cp:coreProperties>
</file>