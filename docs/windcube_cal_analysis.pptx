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</a:rPr>
              <a:t>WindCube FPI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8F7"/>
                </a:solidFill>
              </a:rPr>
              <a:t>Calibration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813816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423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</a:rPr>
              <a:t>Tolansky Two-Line Analysis  |  n-Pairs Sensitivity  |  Systematic Error Budget  |  Future Work Roadmap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</a:rPr>
              <a:t>Scott Sewell   ·   High Altitude Observatory / NCAR   ·   Boulder, 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2011680" cy="1143000"/>
          </a:xfrm>
          <a:prstGeom prst="rect">
            <a:avLst/>
          </a:prstGeom>
          <a:solidFill>
            <a:srgbClr val="1C3461"/>
          </a:solidFill>
          <a:ln w="6350">
            <a:solidFill>
              <a:srgbClr val="D6E8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20.107 mm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Etalon gap 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6072" y="4498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8F7"/>
                </a:solidFill>
              </a:rPr>
              <a:t>±0.2 µm  (1σ)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3749040"/>
            <a:ext cx="2011680" cy="1143000"/>
          </a:xfrm>
          <a:prstGeom prst="rect">
            <a:avLst/>
          </a:prstGeom>
          <a:solidFill>
            <a:srgbClr val="1C3461"/>
          </a:solidFill>
          <a:ln w="6350">
            <a:solidFill>
              <a:srgbClr val="D6E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1.6081×10⁻⁴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24912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Plate scale α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24912" y="4498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8F7"/>
                </a:solidFill>
              </a:rPr>
              <a:t>rad/px  ±101 ppm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3749040"/>
            <a:ext cx="2011680" cy="1143000"/>
          </a:xfrm>
          <a:prstGeom prst="rect">
            <a:avLst/>
          </a:prstGeom>
          <a:solidFill>
            <a:srgbClr val="1C3461"/>
          </a:solidFill>
          <a:ln w="6350">
            <a:solidFill>
              <a:srgbClr val="D6E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12 → 20+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3752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Ring pairs used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73752" y="4498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8F7"/>
                </a:solidFill>
              </a:rPr>
              <a:t>extending to r=150 px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3749040"/>
            <a:ext cx="2011680" cy="1143000"/>
          </a:xfrm>
          <a:prstGeom prst="rect">
            <a:avLst/>
          </a:prstGeom>
          <a:solidFill>
            <a:srgbClr val="1C3461"/>
          </a:solidFill>
          <a:ln w="6350">
            <a:solidFill>
              <a:srgbClr val="D6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1.77 / 2.86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22592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χ² (line a / b)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22592" y="4498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8F7"/>
                </a:solidFill>
              </a:rPr>
              <a:t>improvement path clear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479"/>
                </a:solidFill>
              </a:rPr>
              <a:t>Error Propagation: What Controls α and d?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Full analytical propagation through the Tolansky chain: r²_fit → WLS slope Δ → Benoit d → α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3474720" cy="475488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2412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r²_fit  (each ring)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3474720" cy="475488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682496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WLS slope  Δ  (px²/fringe)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121408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04288"/>
            <a:ext cx="3474720" cy="475488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34086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Fractional order  ε  (intercept)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779776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62656"/>
            <a:ext cx="3474720" cy="475488"/>
          </a:xfrm>
          <a:prstGeom prst="rect">
            <a:avLst/>
          </a:prstGeom>
          <a:solidFill>
            <a:srgbClr val="2A7A3B"/>
          </a:solidFill>
          <a:ln w="12700">
            <a:solidFill>
              <a:srgbClr val="2A7A3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99923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Benoit etalon gap  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438144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21024"/>
            <a:ext cx="3474720" cy="475488"/>
          </a:xfrm>
          <a:prstGeom prst="rect">
            <a:avLst/>
          </a:prstGeom>
          <a:solidFill>
            <a:srgbClr val="003479"/>
          </a:solidFill>
          <a:ln w="12700">
            <a:solidFill>
              <a:srgbClr val="00347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365760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Plate scale  α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60120"/>
          <a:ext cx="466344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Variance share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σ (current)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σ_Δ_a → σ_α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99.8%  ← dominant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0.25 px²/fr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σ_d → σ_α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0.2%   negligible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±0.19 µm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σ_ε_b → σ_d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62%  (weak line b)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±0.0014 fr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σ_ε_a → σ_d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38%  (strong line a)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±0.0011 fr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0" y="2944368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2944368"/>
            <a:ext cx="54864" cy="566928"/>
          </a:xfrm>
          <a:prstGeom prst="rect">
            <a:avLst/>
          </a:prstGeom>
          <a:solidFill>
            <a:srgbClr val="2A7A3B"/>
          </a:solidFill>
          <a:ln w="12700">
            <a:solidFill>
              <a:srgbClr val="2A7A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42816" y="29718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7A3B"/>
                </a:solidFill>
              </a:rPr>
              <a:t>✓  d is already excellent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42816" y="3172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σ_d = ±0.19 µm (9 ppm). Improving ε further has essentially zero impact on σ_α. Don't chase d precision.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0" y="3602736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14800" y="3602736"/>
            <a:ext cx="54864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42816" y="3630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⚠  Weak line b is the bottleneck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242816" y="3831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σ_Δ_b = 0.328 vs σ_Δ_a = 0.25 px²/fr. Line b (638.3 nm) is photon-noise limited throughout. More lamp flux or exposure time helps disproportionately.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114800" y="4261104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0" y="4261104"/>
            <a:ext cx="54864" cy="566928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42885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C2"/>
                </a:solidFill>
              </a:rPr>
              <a:t>→  Path to sub-50 ppm σ_α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42816" y="44897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Reduce σ_Δ by 50% → σ_α halves. Achievable with brighter neon, more rings, or improved fringe centroiding (Airy fit vs parabola).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479"/>
                </a:solidFill>
              </a:rPr>
              <a:t>n-Pairs Sensitivity Sweep — Key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Each point re-runs full Tolansky WLS using only the innermost n ring pairs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54864" cy="1783080"/>
          </a:xfrm>
          <a:prstGeom prst="rect">
            <a:avLst/>
          </a:prstGeom>
          <a:solidFill>
            <a:srgbClr val="2A7A3B"/>
          </a:solidFill>
          <a:ln w="12700">
            <a:solidFill>
              <a:srgbClr val="2A7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3B"/>
                </a:solidFill>
              </a:rPr>
              <a:t>d is stable across all 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" y="140817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Etalon gap d holds within ±1σ from n=8 to n=12 with no monotonic drift. Outer rings are noisy but unbiased. No systematic error introduced by including them.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8755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87552"/>
            <a:ext cx="54864" cy="178308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7C2"/>
                </a:solidFill>
              </a:rPr>
              <a:t>σ_d monotonically decreases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28416" y="140817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d uncertainty falls smoothly from ~0.31 µm at n=4 to ~0.19 µm at n=12, with no sign of flattening. More rings always win for 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98755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87552"/>
            <a:ext cx="54864" cy="178308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7C2"/>
                </a:solidFill>
              </a:rPr>
              <a:t>σ_α monotonically decreases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08776" y="140817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Plate scale uncertainty falls from ~400 ppm at n=4 to ~101 ppm at n=12. Crucially, no inflection point — the outer rings are not biasing α upward despite lower SNR.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07792"/>
            <a:ext cx="54864" cy="1783080"/>
          </a:xfrm>
          <a:prstGeom prst="rect">
            <a:avLst/>
          </a:prstGeom>
          <a:solidFill>
            <a:srgbClr val="2A7A3B"/>
          </a:solidFill>
          <a:ln w="12700">
            <a:solidFill>
              <a:srgbClr val="2A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3B"/>
                </a:solidFill>
              </a:rPr>
              <a:t>Δ slopes are stable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" y="332841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Both Δ_a and Δ_b remain within error bars across all n. No individual ring produces a discontinuous jump, confirming no outlier ring is corrupting the slope.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90779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07792"/>
            <a:ext cx="54864" cy="178308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7C2"/>
                </a:solidFill>
              </a:rPr>
              <a:t>σ_Δ decreases monotonically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332841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Formal WLS uncertainty on both slopes decreases with every added ring pair. Line b consistently noisier than line a — the photon-noise gap is clear.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2907792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07792"/>
            <a:ext cx="54864" cy="1783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</a:rPr>
              <a:t>χ²_red: the one caveat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3328416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χ²_red oscillates 1.5–2.9 for both lines and never settles to 1. Formal σ_Δ values are 35–70% optimistic. True σ_α ~ 130–170 ppm. Systematic error source to investigate.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3479"/>
          </a:solidFill>
          <a:ln w="12700">
            <a:solidFill>
              <a:srgbClr val="0034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6908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CONCLUSION:  More rings universally improves precision. Outer fringes are noisy but unbiased. Proceed with R_MAX = 150 px (20+ ring pairs).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479"/>
                </a:solidFill>
              </a:rPr>
              <a:t>Extending Fringe Coverage: ROI → Full Image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713232"/>
            <a:ext cx="54864" cy="187452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C2"/>
                </a:solidFill>
              </a:rPr>
              <a:t>Image geometry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" y="1078992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Full frame: </a:t>
            </a:r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259 × 276 px
</a:t>
            </a:r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Optical centre (full frame): </a:t>
            </a:r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col=144.7, row=143.7
</a:t>
            </a:r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Min edge distance: </a:t>
            </a:r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115.3 px (bottom) — limits R_MAX
</a:t>
            </a:r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Corner distance: </a:t>
            </a:r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174–204 px
</a:t>
            </a:r>
            <a:pPr indent="0" marL="0">
              <a:buNone/>
            </a:pPr>
            <a:r>
              <a:rPr lang="en-US" sz="950" b="1" dirty="0">
                <a:solidFill>
                  <a:srgbClr val="1A202C"/>
                </a:solidFill>
              </a:rPr>
              <a:t>Current ROI R_MAX: </a:t>
            </a:r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122 px  →  </a:t>
            </a:r>
            <a:pPr indent="0" marL="0">
              <a:buNone/>
            </a:pPr>
            <a:r>
              <a:rPr lang="en-US" sz="950" b="1" dirty="0">
                <a:solidFill>
                  <a:srgbClr val="2A7A3B"/>
                </a:solidFill>
              </a:rPr>
              <a:t>Extended: 150 px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713232"/>
          <a:ext cx="4069080" cy="192024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96012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Peak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 (px)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ROI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Full image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P24/P25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122–125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37–41%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+138%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P26/P27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128–130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28–32%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+197%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P28/P29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133–135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22–25%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+247%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P30/P31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138–140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16–19%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+337%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P32/P33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143–145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11–13%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+492%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P34+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146–155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&lt; 10%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40–50%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+600%+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724912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724912"/>
            <a:ext cx="54864" cy="713232"/>
          </a:xfrm>
          <a:prstGeom prst="rect">
            <a:avLst/>
          </a:prstGeom>
          <a:solidFill>
            <a:srgbClr val="2A7A3B"/>
          </a:solidFill>
          <a:ln w="12700">
            <a:solidFill>
              <a:srgbClr val="2A7A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27614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A3B"/>
                </a:solidFill>
              </a:rPr>
              <a:t>Approach 1 — Already done: R_MAX = 150 px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3776" y="2990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Annular reduction handles partial annuli correctly. Pixels at each r² are averaged regardless of arc completeness. SEM scales as 1/√n_pixels — larger for partial arcs — so WLS automatically down-weights them. P24–P31 added to _R2_WINDOWS.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5760" y="3493008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493008"/>
            <a:ext cx="54864" cy="713232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" y="35295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C2"/>
                </a:solidFill>
              </a:rPr>
              <a:t>Approach 2 — Use the full 259×276 frame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776" y="37581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Removes the ROI altogether. Gains 138–1000% more arc coverage for P24+. Boundary artifacts (if confined to a small angular sector) only increase SEM, not bias, as long as they don't systematically offset the mean intensity around the annulus. Test by comparing d and α with and without ROI mask.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4261104"/>
            <a:ext cx="8046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4261104"/>
            <a:ext cx="54864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4297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</a:rPr>
              <a:t>Caveat: optical centre offset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3776" y="45262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Centre is 115 px from the bottom edge vs 145 px from the top. Full-image annuli are asymmetrically clipped. This is fine for photometry but means outer bins have more pixels on one side. The azimuthal mean is still valid; only its uncertainty estimate changes.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479"/>
                </a:solidFill>
              </a:rPr>
              <a:t>Elevated χ²_red — Candidate Explanations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32020"/>
                </a:solidFill>
              </a:rPr>
              <a:t>χ²_red = 1.77 (line a) and 2.86 (line b) — ring positions scatter 35–70% more than formal ±σ_r² predicts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54864" cy="123444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60704"/>
            <a:ext cx="777240" cy="219456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MOST LIKELY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80160" y="1069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020"/>
                </a:solidFill>
              </a:rPr>
              <a:t>A.  Parabola is the wrong local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" y="133502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The Airy function in r²-space is NOT symmetric — it has a sharper outer flank than inner. A parabola fitted to the top 50% of the peak returns a centroid biased toward the sharper flank. The bias is not constant: it depends on finesse, fringe order, and window placement. With R_refl=0.53 (F≈4.8) fringes are broad and nearly sinusoidal, limiting but not eliminating the bias. Fix: replace parabolic centroid with a full Airy or Gaussian fit.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690872" y="987552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987552"/>
            <a:ext cx="54864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060704"/>
            <a:ext cx="777240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0698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CONTRIBUTING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650992" y="1069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B.  σ_r² underestimated (formal error too small)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33502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Parabolic centroid covariance assumes Gaussian residuals. Any structured noise — flat-field non-uniformity, etalon plate figure, lab thermal gradients — makes formal σ_r² too small, causing WLS to over-weight those rings. Result: χ²_red &gt; 1 throughout. Fix: rescale σ_r² by √χ²_red for quoted uncertainties (current σ_α ~ 130–170 ppm true vs 101 ppm formal).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54864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59152"/>
            <a:ext cx="777240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68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IMPORTANT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80160" y="2368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C.  Etalon surface figure errors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Non-flat etalon plates → gap d varies slowly with r. Fringe positions in r² deviate from a perfectly linear Tolansky model. The residual panel B shows a broad bowl shape (negative mid-range, positive at extremes for line a) — classic signature of a slight spherical figure error in one plate. This is an accuracy (not just precision) issue. Fix: characterise plate figure; apply r-dependent d correction.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690872" y="2286000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286000"/>
            <a:ext cx="54864" cy="123444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359152"/>
            <a:ext cx="777240" cy="219456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368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SECONDARY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650992" y="2368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C2"/>
                </a:solidFill>
              </a:rPr>
              <a:t>D.  Thermal / mechanical drift during 30s exposure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Etalon temps logged: [23.63, 23.40, 23.45, 23.46]°C — ~0.2°C spread across sensors. Gap drift during exposure smears fringes and biases inner/outer ring centroids differently. Same effect from vibration. Fix: shorter exposures, active temperature control, or drift-correction using pairs of exposures.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20040" y="3584448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84448"/>
            <a:ext cx="54864" cy="123444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657600"/>
            <a:ext cx="777240" cy="219456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667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SECONDARY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280160" y="3666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C2"/>
                </a:solidFill>
              </a:rPr>
              <a:t>E.  Centre-finding residual error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" y="3931920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NM uncertainty σ_cx = σ_cy ≈ 0.02 px. A centring offset δ shifts every r² by ~2r·δ, growing linearly with r. At r=120 px, induced r² error ≈ 5 px² — comparable to ±σ_r² of outer rings. Fix: extend NM optimisation to use a wider search grid; verify centre is consistent across multiple exposures.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690872" y="3584448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584448"/>
            <a:ext cx="54864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3657600"/>
            <a:ext cx="777240" cy="21945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6667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CHECK FIRST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650992" y="3666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F.  Incorrect peak family assignment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3931920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Peaks are split into line-a vs line-b families by amplitude threshold. If even one peak is mis-assigned, its r² lands at the wrong fringe index p, introducing a step offset in the Tolansky slope. Fix: verify each family by checking predicted vs actual r² spacing; consider assigning by proximity to predicted positions rather than amplitude alone.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479"/>
                </a:solidFill>
              </a:rPr>
              <a:t>Future Work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Prioritised actions to improve α and d precision/accuracy for WindCube science operations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54864" cy="123444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60704"/>
            <a:ext cx="347472" cy="219456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1060704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87368" y="1069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Medium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32104" y="1069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020"/>
                </a:solidFill>
              </a:rPr>
              <a:t>Replace parabolic centroid with Airy/Gaussian fit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33502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Highest expected χ²_red reduction. Implement as an option in annular_reduce(). Compare centroid positions: systematic offset between parabola and Airy centroid is a direct measure of the current bias.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690872" y="987552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987552"/>
            <a:ext cx="54864" cy="123444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2312" y="1060704"/>
            <a:ext cx="347472" cy="219456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0698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85632" y="1060704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069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Low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202936" y="1069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020"/>
                </a:solidFill>
              </a:rPr>
              <a:t>Brighter neon lamp or longer cal exposure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33502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Line b (638.3 nm, weak) is the dominant σ_Δ bottleneck. Doubling lamp flux or exposure halves photon noise on all rings simultaneously. Most cost-effective single hardware change.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86000"/>
            <a:ext cx="54864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359152"/>
            <a:ext cx="347472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682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2359152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23682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Low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32104" y="2368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Extend to R_MAX = 150 px (done) then full-frame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P24–P31 already added. Next: remove ROI and use full 259×276 image. Validate by comparing d and α with ROI vs full-frame; if consistent, adopt full-frame as default.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690872" y="2286000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286000"/>
            <a:ext cx="54864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2359152"/>
            <a:ext cx="347472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23682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85632" y="2359152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23682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Trivial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202936" y="2368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Rescale formal uncertainties by √χ²_red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Until χ²_red is understood, multiply all σ_Δ, σ_d, σ_α by √χ²_red before quoting. Currently σ_α ≈ 101 ppm formal but ~130–170 ppm true. This is a bookkeeping fix, not a science improvement.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20040" y="3584448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84448"/>
            <a:ext cx="54864" cy="123444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657600"/>
            <a:ext cx="347472" cy="219456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6667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657600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87368" y="36667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Medium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32104" y="3666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C2"/>
                </a:solidFill>
              </a:rPr>
              <a:t>Characterise etalon plate figure (candidate C)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" y="3931920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Take calibration frames at multiple temperatures. If d shifts with T in a radially-symmetric pattern, it suggests plate figure error. Could also analyse residuals vs r to extract the figure term directly from existing data.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690872" y="3584448"/>
            <a:ext cx="4224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90872" y="3584448"/>
            <a:ext cx="54864" cy="1234440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82312" y="3657600"/>
            <a:ext cx="347472" cy="219456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36667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85632" y="3657600"/>
            <a:ext cx="34747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36667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Medium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202936" y="3666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C2"/>
                </a:solidFill>
              </a:rPr>
              <a:t>Verify peak family assignment robustness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18888" y="3931920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02C"/>
                </a:solidFill>
              </a:rPr>
              <a:t>Replace amplitude-threshold split with position-prediction assignment: assign each detected peak to the family whose predicted r²_fit (from the running Tolansky slope) is closest. More robust at low SNR.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4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WindCube SOC Pipeline — Current Status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1188720"/>
          </a:xfrm>
          <a:prstGeom prst="rect">
            <a:avLst/>
          </a:prstGeom>
          <a:solidFill>
            <a:srgbClr val="2A7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20.107 mm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  (etalon gap)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8F7"/>
                </a:solidFill>
              </a:rPr>
              <a:t>±0.2 µm  Benoit/Tolansky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2011680" cy="1188720"/>
          </a:xfrm>
          <a:prstGeom prst="rect">
            <a:avLst/>
          </a:prstGeom>
          <a:solidFill>
            <a:srgbClr val="2A7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987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1.6081×10⁻⁴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α  (plate scale)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9748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8F7"/>
                </a:solidFill>
              </a:rPr>
              <a:t>rad/px  ±101 ppm (formal)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011680" cy="1188720"/>
          </a:xfrm>
          <a:prstGeom prst="rect">
            <a:avLst/>
          </a:prstGeom>
          <a:solidFill>
            <a:srgbClr val="2A7A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87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→ 20+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Ring pairs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8F7"/>
                </a:solidFill>
              </a:rPr>
              <a:t>extending outer fringes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2011680" cy="1188720"/>
          </a:xfrm>
          <a:prstGeom prst="rect">
            <a:avLst/>
          </a:prstGeom>
          <a:solidFill>
            <a:srgbClr val="E8A02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987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1.77 / 2.86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1426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χ²_red  (line a/b)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9516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8F7"/>
                </a:solidFill>
              </a:rPr>
              <a:t>target: &lt; 1.5  — WIP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8F7"/>
                </a:solidFill>
              </a:rPr>
              <a:t>Pipeline output figures (run_windcube_calibration.py)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42032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87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2587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Raw images + metadata + dark-sub ROI + histogram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2542032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587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13632" y="2587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Two-pass azimuthal variance centre finder (NM)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2542032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587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48272" y="2587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Peak identification table (24 peaks, unified columns)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054096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099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All-fringe fit diagnostics — 24 sub-panels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3054096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099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13632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Tolansky two-line analysis (Benoit d + plate scale α)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3054096"/>
            <a:ext cx="2697480" cy="457200"/>
          </a:xfrm>
          <a:prstGeom prst="rect">
            <a:avLst/>
          </a:prstGeom>
          <a:solidFill>
            <a:srgbClr val="1A3A6B"/>
          </a:solidFill>
          <a:ln w="3810">
            <a:solidFill>
              <a:srgbClr val="D6E8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099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Fig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48272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n-pairs sensitivity sweep — precision vs ring count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000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479"/>
                </a:solidFill>
              </a:rPr>
              <a:t>Scott Sewell  ·  sewell@ucar.edu  ·  HAO/NCAR  ·  soc_sewell repository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WindCube FPI Calibration Analysis</dc:title>
  <dc:subject>PptxGenJS Presentation</dc:subject>
  <dc:creator>Scott Sewell / HAO-NCAR</dc:creator>
  <cp:lastModifiedBy>Scott Sewell / HAO-NCAR</cp:lastModifiedBy>
  <cp:revision>1</cp:revision>
  <dcterms:created xsi:type="dcterms:W3CDTF">2026-05-27T09:12:21Z</dcterms:created>
  <dcterms:modified xsi:type="dcterms:W3CDTF">2026-05-27T09:12:21Z</dcterms:modified>
</cp:coreProperties>
</file>